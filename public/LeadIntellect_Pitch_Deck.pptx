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LEADINTELLECT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9601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All-in-One Autonomous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Revenue Operating System.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Eliminating Sales Tech-Stack Bloat: Waterfall-Enriched Intent Database + Built-in Deal CRM + Multi-Channel AI Playbooks.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4206240"/>
            <a:ext cx="4389120" cy="1463040"/>
          </a:xfrm>
          <a:prstGeom prst="roundRect">
            <a:avLst/>
          </a:prstGeom>
          <a:solidFill>
            <a:srgbClr val="14233C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4389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SEED ASK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4709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₹50 Lakh Initial Seed Round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52120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6-Month Milestone Acceleration • Founder-Led • Live Working Platform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0" y="4206240"/>
            <a:ext cx="5943600" cy="1463040"/>
          </a:xfrm>
          <a:prstGeom prst="roundRect">
            <a:avLst/>
          </a:prstGeom>
          <a:solidFill>
            <a:srgbClr val="14233C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0" y="43891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F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FOUNDER-MARKET FIT &amp; DOMAIN ADVANTAGE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60720" y="470916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15+ Years Enterprise B2B Sales &amp; GTM Research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760720" y="52120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Solving real buyer friction with 11,200+ pre-verified live records &amp; proprietary context framework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• INVESTOR PRESENTATION 2026 • LEADINTELLECT.AI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THE BURNING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Sales Teams Are Drowning in 4 Subscriptions &amp; Stale Data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average B2B sales team spends $1,200 – $2,500/month across a fragmented stack where 70% of leads leak and cold email reply rates have fallen below 0.5%.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560320" cy="3200400"/>
          </a:xfrm>
          <a:prstGeom prst="roundRect">
            <a:avLst/>
          </a:prstGeom>
          <a:solidFill>
            <a:srgbClr val="14233C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4688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Decay &amp; Domain Burn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2F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Apollo / ZoomInfo ($99–$500/mo)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3749040"/>
            <a:ext cx="2194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of B2B data decays annually. Generic scraped lists lead to 15%+ bounce rates, spam traps, and permanent domain blacklisting by Google &amp; Yahoo.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0" y="2286000"/>
            <a:ext cx="2560320" cy="3200400"/>
          </a:xfrm>
          <a:prstGeom prst="roundRect">
            <a:avLst/>
          </a:prstGeom>
          <a:solidFill>
            <a:srgbClr val="14233C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24688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0" y="28346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Context-Deficient Outreach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0" y="32918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2F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Instantly / Smartlead ($97/mo)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0" y="3749040"/>
            <a:ext cx="2194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SDRs blast generic templates that prospects ignore. Zero real intent signals, zero contextual synthesis (Who, Why Now, What Pain Point).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2286000"/>
            <a:ext cx="2560320" cy="3200400"/>
          </a:xfrm>
          <a:prstGeom prst="roundRect">
            <a:avLst/>
          </a:prstGeom>
          <a:solidFill>
            <a:srgbClr val="14233C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24688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0" y="28346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Disconnect &amp; Admin Drag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32918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2F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HubSpot / Pipedrive ($50–$300/mo)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0" y="3749040"/>
            <a:ext cx="2194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Reps waste 65% of their working hours manually importing CSVs, copying notes, and managing stages instead of closing deals.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961120" y="2286000"/>
            <a:ext cx="2560320" cy="3200400"/>
          </a:xfrm>
          <a:prstGeom prst="roundRect">
            <a:avLst/>
          </a:prstGeom>
          <a:solidFill>
            <a:srgbClr val="14233C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0" y="24688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44000" y="28346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Fragile Integration Glue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0" y="32918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2F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Zapier / Make ($50–$100/mo)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144000" y="3749040"/>
            <a:ext cx="2194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silos break constantly between scrapers, warmups, and CRMs. Leads fall through cracks and deals are lost before they are even contacted.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" y="57607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2F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INSIGHT: "Companies don't need another bulk CSV scraper. They need a single engine that finds verified buyers, writes the pitch, and manages the deal pipeline."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THE UNIFIED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Autonomous Platform. Zero Stack Bloat.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LeadIntellect replaces 4 separate tools by unifying Discovery, Waterfall Verification, 1:1 Multi-Channel Playbooks, and Built-in Visual CRM in a single subscription.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474720" cy="3200400"/>
          </a:xfrm>
          <a:prstGeom prst="roundRect">
            <a:avLst/>
          </a:prstGeom>
          <a:solidFill>
            <a:srgbClr val="14233C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5603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&amp; ACCURACY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28803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Waterfall-Enriched Database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56616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to 11,000+ pre-verified B2B decision-makers. Multi-provider waterfall (Apollo + Hunter + Prospeo) with real-time SMTP handshakes that guarantee 98%+ deliverability.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2286000"/>
            <a:ext cx="3474720" cy="3200400"/>
          </a:xfrm>
          <a:prstGeom prst="roundRect">
            <a:avLst/>
          </a:prstGeom>
          <a:solidFill>
            <a:srgbClr val="14233C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25603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 PIPELINE MANAGEMENT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63440" y="28803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1-Click Built-in Visual CRM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63440" y="356616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need to buy HubSpot or Pipedrive. Push qualified leads straight into an interactive Kanban board with deal value, priority tags, follow-up logs, and custom stages.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6720" y="2286000"/>
            <a:ext cx="3474720" cy="3200400"/>
          </a:xfrm>
          <a:prstGeom prst="roundRect">
            <a:avLst/>
          </a:prstGeom>
          <a:solidFill>
            <a:srgbClr val="14233C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25603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&amp; CONVERSION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321040" y="28803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Multi-Channel AI Playbook Studio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21040" y="356616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Transforms raw contact data into 1:1 Cold Emails, tailored LinkedIn connection requests, high-converting WhatsApp pitches, and phone call objection battlecards in 10 seconds.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5669280"/>
            <a:ext cx="10515600" cy="640080"/>
          </a:xfrm>
          <a:prstGeom prst="roundRect">
            <a:avLst/>
          </a:prstGeom>
          <a:solidFill>
            <a:srgbClr val="0F766E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580644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Saves B2B teams $500–$1,500/month, eliminates lead leakage, and increases meeting booking rate by 3.2×.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OUR COMPETITIVE MOAT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LeadIntellect Wins: 4 Defensible Pillars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212080" cy="1920240"/>
          </a:xfrm>
          <a:prstGeom prst="roundRect">
            <a:avLst/>
          </a:prstGeom>
          <a:solidFill>
            <a:srgbClr val="14233C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783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F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USP #1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60120" y="20574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Deliverability Risk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2359152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Multi-Provider Waterfall + SMTP Gateway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60120" y="260604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Never relies on a single stale scraper.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Cascades from internal cache ➔ Apollo ➔ Hunter/Prospeo.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ZeroBounce/NeverBounce SMTP ping filters out spam traps and catch-alls before credits are spent.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212080" cy="1920240"/>
          </a:xfrm>
          <a:prstGeom prst="roundRect">
            <a:avLst/>
          </a:prstGeom>
          <a:solidFill>
            <a:srgbClr val="14233C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783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F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USP #2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46520" y="20574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Visual Deal CRM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46520" y="2359152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Eliminates Post-Scrape Churn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46520" y="260604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Traditional scrapers are churned in 30 days after CSV download.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LeadIntellect embeds the entire sales pipeline: Kanban stages, revenue forecast, and deal tracking.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Sticky daily active workflow prevents cancellations.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1520" y="3840480"/>
            <a:ext cx="5212080" cy="1920240"/>
          </a:xfrm>
          <a:prstGeom prst="roundRect">
            <a:avLst/>
          </a:prstGeom>
          <a:solidFill>
            <a:srgbClr val="14233C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977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F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USP #3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60120" y="42519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Multi-Channel Playbooks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4553712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+ WhatsApp + LinkedIn + Call Scripts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60120" y="480060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Cold email alone is dying in APAC &amp; India.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Generates tailored WhatsApp pitches, phone scripts, and LinkedIn hooks calibrated to seniority.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Closes deals across all modern communication channels.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17920" y="3840480"/>
            <a:ext cx="5212080" cy="1920240"/>
          </a:xfrm>
          <a:prstGeom prst="roundRect">
            <a:avLst/>
          </a:prstGeom>
          <a:solidFill>
            <a:srgbClr val="14233C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3977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F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USP #4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46520" y="42519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Currency &amp; Pricing Arbitrage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46520" y="4553712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INR (₹) + GST Invoicing + Global USD ($)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46520" y="480060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Indian businesses get transparent ₹ pricing (₹2,499–₹12,999/mo) with instant UPI and 18% GST Input Credit.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Global customers get frictionless USD checkout ($49–$149/mo).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Avoids 3.5% forex fees and payment failure friction.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COMPETITIVE LANDSCAPE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LeadIntellect Outpositions Existing Players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515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468880"/>
                <a:gridCol w="1645920"/>
                <a:gridCol w="1645920"/>
                <a:gridCol w="1463040"/>
                <a:gridCol w="14630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2F3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LeadIntellect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Apollo.io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ZoomInfo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Clay.com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Nexshift.ai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Focus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2F3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Autonomous All-In-One Revenue Engine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Commodity Contact Scraper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Enterprise Directory Lock-in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Complex Spreadsheet Workflows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Post-Lead Conversational Bots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Built-in Deal CRM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4B8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Visual Kanban Board Included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No (Requires HubSpot/Salesforce)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No (Requires Enterprise CRM)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No CRM (Data table only)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⚠️ Basic activity log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Accuracy &amp; Deliverability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4B8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Waterfall + Real-Time SMTP Ping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⚠️ Single-source; 15%+ bounce rates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High for US, weak for APAC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Multi-vendor (complex setup)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No contact data provided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Multi-Channel AI Outreach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4B8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Email + WhatsApp + LinkedIn + Call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⚠️ Cold email sequences only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Dial/Email plugin only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⚠️ Text prompts only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Voice &amp; WhatsApp bots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Indian Pricing &amp; GST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4B8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₹2,499–₹12,999/mo + GST Input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Expensive USD only, no GST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$15,000/yr minimum contract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$149–$800/mo USD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⚠️ Enterprise custom quote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Market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SMBs, Mid-Market &amp; Growth Teams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High-volume blast reps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Fortune 500 US Enterprise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 RevOps Engineers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Contact Centers &amp; Support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5760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F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TAKEAWAY: Apollo sells commoditized data; Clay is too complicated; Nexshift only orchestrates conversations. LeadIntellect captures the entire outbound workflow for SMBs and mid-market teams.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LIVE TRACTION &amp;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an Idea — A Deployed, Production-Ready SaaS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371600"/>
          </a:xfrm>
          <a:prstGeom prst="roundRect">
            <a:avLst/>
          </a:prstGeom>
          <a:solidFill>
            <a:srgbClr val="14233C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83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2F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11,222+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Verified Contacts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C-Suite, VPs, Directors in US, India &amp; Global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429000" y="1645920"/>
            <a:ext cx="2468880" cy="1371600"/>
          </a:xfrm>
          <a:prstGeom prst="roundRect">
            <a:avLst/>
          </a:prstGeom>
          <a:solidFill>
            <a:srgbClr val="14233C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1783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2F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&lt;50ms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520440" y="2240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Performance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20440" y="2514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In-memory cached pagination &amp; facet indexing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126480" y="1645920"/>
            <a:ext cx="2468880" cy="1371600"/>
          </a:xfrm>
          <a:prstGeom prst="roundRect">
            <a:avLst/>
          </a:prstGeom>
          <a:solidFill>
            <a:srgbClr val="14233C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783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2F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98%+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217920" y="2240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Deliverability Guarantee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0" y="2514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SMTP handshake &amp; catch-all prevention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823960" y="1645920"/>
            <a:ext cx="2468880" cy="1371600"/>
          </a:xfrm>
          <a:prstGeom prst="roundRect">
            <a:avLst/>
          </a:prstGeom>
          <a:solidFill>
            <a:srgbClr val="14233C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15400" y="1783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2F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1-Click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915400" y="2240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Deal Push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915400" y="2514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Zero-friction sync from database to Kanban pipeline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31520" y="3291840"/>
            <a:ext cx="10515600" cy="2560320"/>
          </a:xfrm>
          <a:prstGeom prst="roundRect">
            <a:avLst/>
          </a:prstGeom>
          <a:solidFill>
            <a:srgbClr val="14233C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34747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PRODUCT CAPABILITIES DEPLOYED &amp; TESTED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5840" y="3840480"/>
            <a:ext cx="9875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Proprietary 5-Question AI Synthesis: Translates buyer profile into Who, Why, Pain, Fit, and Next Action.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Built-in Deal Pipeline (Kanban): 5 stage tracking (Identified ➔ Contacted ➔ Demo ➔ Proposal ➔ Won).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Multi-Channel Generator: Instant cold email, LinkedIn hook, WhatsApp opener, and objection call script.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Waterfall Enrichment Engine: Automated failover across data providers to resolve missing mobile &amp; email.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Dynamic Regional Pricing: Auto-detects visitor country, supports Razorpay/UPI (₹) &amp; Stripe ($).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BUSINESS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Predictable SaaS Recurring Revenue + Usage Expansion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514600" cy="3840480"/>
          </a:xfrm>
          <a:prstGeom prst="roundRect">
            <a:avLst/>
          </a:prstGeom>
          <a:solidFill>
            <a:srgbClr val="14233C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 Plan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2F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Global: $0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Forever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347472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Product-led acquisition wedge: 100 verified credits, basic ICP search, 1 active CRM pipeline.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29000" y="1645920"/>
            <a:ext cx="2514600" cy="3840480"/>
          </a:xfrm>
          <a:prstGeom prst="roundRect">
            <a:avLst/>
          </a:prstGeom>
          <a:solidFill>
            <a:srgbClr val="14233C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19202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Outbound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20440" y="24688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2F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₹2,499 / mo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20440" y="283464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Global: $49 / mo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20440" y="30632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Billed Annually at ₹1,999/mo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11880" y="347472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SDR teams: 30,000 credits/yr, verified work emails, full visual CRM pipeline, email warmup.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1645920"/>
            <a:ext cx="2514600" cy="3840480"/>
          </a:xfrm>
          <a:prstGeom prst="roundRect">
            <a:avLst/>
          </a:prstGeom>
          <a:solidFill>
            <a:srgbClr val="14233C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8288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2F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HIGHEST ARPU &amp; VALUE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17920" y="21031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Multi-Channel Scale (Flagship)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0" y="24688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2F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₹5,499 / mo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217920" y="283464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Global: $89 / mo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0" y="30632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Billed Annually at ₹4,499/mo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309360" y="347472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High-growth B2B teams: 60,000 credits/yr, direct mobile &amp; WhatsApp verified numbers, full CRM, 1:1 AI Studio.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823960" y="1645920"/>
            <a:ext cx="2514600" cy="3840480"/>
          </a:xfrm>
          <a:prstGeom prst="roundRect">
            <a:avLst/>
          </a:prstGeom>
          <a:solidFill>
            <a:srgbClr val="14233C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15400" y="19202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Engine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915400" y="24688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2F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₹12,999 / mo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915400" y="283464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Global: $149 / mo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915400" y="30632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Billed Annually (3 seats included)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006840" y="347472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Enterprises &amp; Agencies: 120,000 credits/yr, custom CRM workflows, waterfall enrichment API, dedicated SLA.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REVENUE LEVERS: Additional credit bundles, custom enterprise CRM workflow setups (₹25k–₹50k one-time), and team seat expansion.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MARKET OPPORTUNITY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Massive Market Headroom with High-Conviction First Wedge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474720" cy="3017520"/>
          </a:xfrm>
          <a:prstGeom prst="roundRect">
            <a:avLst/>
          </a:prstGeom>
          <a:solidFill>
            <a:srgbClr val="14233C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288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(TOTAL ADDRESSABLE)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60120" y="21488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₹1.38 Lakh Crore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60120" y="26517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F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SaaS &amp; Tech Services Ecosystem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306324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Growing at 16.9% CAGR to ₹4.96 Lakh Cr by 2033 (Grand View Research). Massive explosion of B2B outbound teams.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89120" y="1645920"/>
            <a:ext cx="3474720" cy="3017520"/>
          </a:xfrm>
          <a:prstGeom prst="roundRect">
            <a:avLst/>
          </a:prstGeom>
          <a:solidFill>
            <a:srgbClr val="14233C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8288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(SERVICEABLE ADDRESSABLE)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17720" y="21488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₹7,055 Crore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617720" y="26517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F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Intelligence &amp; Prospecting Segment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17720" y="306324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Expanding to ₹10,064 Cr by 2032. B2B firms aggressively replacing pure manual research with automated intelligence.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46720" y="1645920"/>
            <a:ext cx="3474720" cy="3017520"/>
          </a:xfrm>
          <a:prstGeom prst="roundRect">
            <a:avLst/>
          </a:prstGeom>
          <a:solidFill>
            <a:srgbClr val="14233C"/>
          </a:solidFill>
          <a:ln w="19050">
            <a:solidFill>
              <a:srgbClr val="E2F3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18288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 (SERVICEABLE OBTAINABLE)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75320" y="21488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₹70.6 Crore ARR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275320" y="26517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F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 of Immediate Addressable Category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75320" y="306324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focused beachhead: Healthcare/FM vendors, B2B SaaS, IT/Managed Services, and high-ticket consulting agencies.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4937760"/>
            <a:ext cx="10515600" cy="1280160"/>
          </a:xfrm>
          <a:prstGeom prst="roundRect">
            <a:avLst/>
          </a:prstGeom>
          <a:solidFill>
            <a:srgbClr val="14233C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51663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ROADMAP: Beachhead Wedge (Healthcare &amp; FM Suppliers) ➔ Indian B2B SaaS &amp; IT Agencies ➔ Global Mid-Market Outbound Teams.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553212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sequence works: Healthcare &amp; Facilities vendors have the highest pain and lowest penetration by US SaaS tools, providing an uncontested early cash flow wedge before scaling to global SaaS.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LEADERSHIP &amp; UNFAIR ADVANTAGE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Experienced Operators with 15+ Years Domain Rigor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3474720" cy="3200400"/>
          </a:xfrm>
          <a:prstGeom prst="roundRect">
            <a:avLst/>
          </a:prstGeom>
          <a:solidFill>
            <a:srgbClr val="14233C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0116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F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PUSHPALATHA 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4231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&amp; Chief Executive Officer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Oversees strategic company vision, corporate governance, financial stewardship, and executive operational execution across all business entities.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9120" y="1737360"/>
            <a:ext cx="3474720" cy="3200400"/>
          </a:xfrm>
          <a:prstGeom prst="roundRect">
            <a:avLst/>
          </a:prstGeom>
          <a:solidFill>
            <a:srgbClr val="14233C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20116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F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JHANSI 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63440" y="24231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Co-Founder &amp; Head of Sales &amp; Strategy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0" y="292608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Drives commercial strategy, enterprise customer acquisition, channel partner development, and client expansion across target Indian and APAC markets.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46720" y="1737360"/>
            <a:ext cx="3474720" cy="3200400"/>
          </a:xfrm>
          <a:prstGeom prst="roundRect">
            <a:avLst/>
          </a:prstGeom>
          <a:solidFill>
            <a:srgbClr val="14233C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20116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F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RAGHUNANDAN 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21040" y="24231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Chief Marketing Officer &amp; Strategic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21040" y="292608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15+ years experience spanning B2B sales, marketing research, and revenue operations. Over 10 years of focused research solving B2B outbound friction firsthand.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5212080"/>
            <a:ext cx="10515600" cy="914400"/>
          </a:xfrm>
          <a:prstGeom prst="roundRect">
            <a:avLst/>
          </a:prstGeom>
          <a:solidFill>
            <a:srgbClr val="14233C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34924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FOUNDER-MARKET FIT: We are not novices building theoretical software. We are enterprise sales practitioners who have generated pipeline, closed enterprise contracts, and lived every single data &amp; deliverability pain point we solve.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THE INVESTMENT 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₹50 Lakh Seed Round: 6-Month Execution Program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514600" cy="3749040"/>
          </a:xfrm>
          <a:prstGeom prst="roundRect">
            <a:avLst/>
          </a:prstGeom>
          <a:solidFill>
            <a:srgbClr val="14233C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2F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₹17.5 Lakh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&amp; AI Engineering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3246120"/>
            <a:ext cx="2148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Deepen multi-provider waterfall connectors (Apollo, Hunter, Prospeo), Twilio direct dial phone verification, and LLM playbook latency.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29000" y="1645920"/>
            <a:ext cx="2514600" cy="3749040"/>
          </a:xfrm>
          <a:prstGeom prst="roundRect">
            <a:avLst/>
          </a:prstGeom>
          <a:solidFill>
            <a:srgbClr val="14233C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18288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2F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520440" y="23774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₹15.0 Lakh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20440" y="26974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GTM &amp; Customer Acquisition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11880" y="3246120"/>
            <a:ext cx="2148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Acquire initial 100 paying B2B accounts across India &amp; overseas via targeted outbound, agency partnerships, and webinars.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26480" y="1645920"/>
            <a:ext cx="2514600" cy="3749040"/>
          </a:xfrm>
          <a:prstGeom prst="roundRect">
            <a:avLst/>
          </a:prstGeom>
          <a:solidFill>
            <a:srgbClr val="14233C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8288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2F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217920" y="23774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₹10.0 Lakh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26974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Customization &amp; Enterprise Sync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3246120"/>
            <a:ext cx="2148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bi-directional sync (HubSpot, Salesforce webhooks) and customizable Kanban schemas for enterprise contracts.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823960" y="1645920"/>
            <a:ext cx="2514600" cy="3749040"/>
          </a:xfrm>
          <a:prstGeom prst="roundRect">
            <a:avLst/>
          </a:prstGeom>
          <a:solidFill>
            <a:srgbClr val="14233C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15400" y="18288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2F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8915400" y="23774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₹7.5 Lakh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915400" y="26974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Infrastructure, Security &amp; Buffer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006840" y="3246120"/>
            <a:ext cx="2148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hosting, enterprise security controls, ZeroBounce API reserve, GST compliance, and working capital reserve.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FUNDING PRINCIPLE: Capital efficiency. Every rupee is deployed to hit clear commercial proof points (paying customers, ARR, low churn) before raising the next financing round.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THE OUTCOME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Milestones to a 10× Investor Return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474720" cy="2926080"/>
          </a:xfrm>
          <a:prstGeom prst="roundRect">
            <a:avLst/>
          </a:prstGeom>
          <a:solidFill>
            <a:srgbClr val="14233C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288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F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 –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21488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Validation &amp; Onboarding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260604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Complete payment gateway and self-serve onboarding.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Onboard first 25 paying pilot teams across SaaS and healthcare suppliers.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Achieve 98%+ data accuracy score with 0 bounce complaints.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89120" y="1645920"/>
            <a:ext cx="3474720" cy="2926080"/>
          </a:xfrm>
          <a:prstGeom prst="roundRect">
            <a:avLst/>
          </a:prstGeom>
          <a:solidFill>
            <a:srgbClr val="14233C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18288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F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3 – 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17720" y="21488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Scale &amp; CRM Depth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17720" y="260604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Reach 60 paying customer accounts.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Deploy WhatsApp multi-channel AI pitch generator and direct mobile dialing.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Launch custom enterprise CRM schema service.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46720" y="1645920"/>
            <a:ext cx="3474720" cy="2926080"/>
          </a:xfrm>
          <a:prstGeom prst="roundRect">
            <a:avLst/>
          </a:prstGeom>
          <a:solidFill>
            <a:srgbClr val="14233C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5320" y="18288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F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5 – 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75320" y="21488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Repeatability &amp; Series A Readiness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75320" y="260604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Surpass 100+ active paying B2B accounts.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Achieve ₹30L–₹40L Annualized Run-Rate (ARR) with &lt;3% monthly logo churn.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Position for institutional Series A at a ₹30Cr–₹50Cr valuation.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4846320"/>
            <a:ext cx="10515600" cy="1463040"/>
          </a:xfrm>
          <a:prstGeom prst="roundRect">
            <a:avLst/>
          </a:prstGeom>
          <a:solidFill>
            <a:srgbClr val="0F766E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98348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F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10× INVESTOR VALUE CREATION FRAMEWORK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530352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₹50 Lakh seed capital targeting a ₹5 Crore gross investor stake value at Series A or strategic acquisition (assuming 10% equity stake at ~₹50Cr enterprise value). Supported by real ARR, high net revenue retention, defensible multi-provider waterfall technology, and uncontested Indian &amp; global mid-market pricing.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LeadIntellect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LeadIntellect - Seed Investor Pitch Deck</dc:title>
  <dc:subject>PptxGenJS Presentation</dc:subject>
  <dc:creator>LeadIntellect Core Team</dc:creator>
  <cp:lastModifiedBy>LeadIntellect Core Team</cp:lastModifiedBy>
  <cp:revision>1</cp:revision>
  <dcterms:created xsi:type="dcterms:W3CDTF">2026-09-30T14:59:09Z</dcterms:created>
  <dcterms:modified xsi:type="dcterms:W3CDTF">2026-09-30T14:59:09Z</dcterms:modified>
</cp:coreProperties>
</file>